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3883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Физические среды передачи данных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Кабели · Беспроводные среды · Оборудование · Инструменты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Типы кабелей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3474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801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25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Витая пара (UTP/STP)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92024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</a:rPr>
              <a:t>Стандарт: </a:t>
            </a:r>
            <a:r>
              <a:rPr lang="en-US" sz="1200" dirty="0">
                <a:solidFill>
                  <a:srgbClr val="64748B"/>
                </a:solidFill>
              </a:rPr>
              <a:t>Cat5e, Cat6, Cat6a, Cat7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</a:rPr>
              <a:t>Скорость: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100 Мбит/с — 10 Гбит/с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</a:rPr>
              <a:t>Дальность: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до 100 м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</a:rPr>
              <a:t>Применение: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LAN, телефония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1097280"/>
            <a:ext cx="2560320" cy="3474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9" name="Shape 6"/>
          <p:cNvSpPr/>
          <p:nvPr/>
        </p:nvSpPr>
        <p:spPr>
          <a:xfrm>
            <a:off x="3291840" y="1097280"/>
            <a:ext cx="73152" cy="347472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2801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69080" y="1325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Коаксиальный кабель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474720" y="192024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</a:rPr>
              <a:t>Структура: </a:t>
            </a:r>
            <a:r>
              <a:rPr lang="en-US" sz="1200" dirty="0">
                <a:solidFill>
                  <a:srgbClr val="64748B"/>
                </a:solidFill>
              </a:rPr>
              <a:t>центральная жила + экран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</a:rPr>
              <a:t>Скорость: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до 10 Мбит/с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</a:rPr>
              <a:t>Дальность: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до 500 м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</a:rPr>
              <a:t>Применение: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Ethernet (устаревший), ТВ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26480" y="1097280"/>
            <a:ext cx="2560320" cy="3474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4" name="Shape 10"/>
          <p:cNvSpPr/>
          <p:nvPr/>
        </p:nvSpPr>
        <p:spPr>
          <a:xfrm>
            <a:off x="6126480" y="1097280"/>
            <a:ext cx="73152" cy="3474720"/>
          </a:xfrm>
          <a:prstGeom prst="rect">
            <a:avLst/>
          </a:prstGeom>
          <a:solidFill>
            <a:srgbClr val="21295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2801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03720" y="1325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Оптоволоконный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309360" y="192024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</a:rPr>
              <a:t>Структура: </a:t>
            </a:r>
            <a:r>
              <a:rPr lang="en-US" sz="1200" dirty="0">
                <a:solidFill>
                  <a:srgbClr val="64748B"/>
                </a:solidFill>
              </a:rPr>
              <a:t>стеклянное волокно + оболочка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</a:rPr>
              <a:t>Скорость: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до 100 Гбит/с и выше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</a:rPr>
              <a:t>Дальность: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до 40 км (одномод)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</a:rPr>
              <a:t>Применение: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магистрали, ЦОД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Сравнение типов кабелей</a:t>
            </a:r>
            <a:endParaRPr lang="en-US" sz="3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3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Параметр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Витая пара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Коаксиал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Оптоволокно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Скорость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100 Мбит/с — 10 Гбит/с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до 10 Мбит/с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до 100 Гбит/с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Дальность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до 100 м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до 500 м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до 40 км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Помехоустойчивость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Средняя (STP выше)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Высокая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Очень высокая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Стоимость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Низкая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Средняя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Высокая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Монтаж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Простой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Средней сложности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Сложный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Применение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LAN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Ethernet (устаревший), ТВ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Магистрали, ЦОД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Типы сетей, линий и каналов связи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</a:rPr>
              <a:t>Типы сетей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</a:rPr>
              <a:t>PAN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 — Personal Area Network (Bluetooth, до 10 м)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</a:rPr>
              <a:t>LAN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 — Local Area Network (до 1 км)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</a:rPr>
              <a:t>MAN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 — Metropolitan Area Network (городская, до 100 км)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</a:rPr>
              <a:t>WAN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 — Wide Area Network (глобальная, Интернет)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</a:rPr>
              <a:t>Каналы связи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54880" y="155448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</a:rPr>
              <a:t>Симплексный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 — передача только в одну сторону (радио, ТВ)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</a:rPr>
              <a:t>Полудуплексный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 — двусторонняя, но поочерёдно (рация)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</a:rPr>
              <a:t>Дуплексный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 — одновременная передача в обе стороны (телефон, Ethernet)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Соединители и коннекторы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4630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457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34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RJ-45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Витая пара (8P8C), 8 контактов. Стандарт Ethernet.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097280"/>
            <a:ext cx="2651760" cy="14630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8" name="Shape 6"/>
          <p:cNvSpPr/>
          <p:nvPr/>
        </p:nvSpPr>
        <p:spPr>
          <a:xfrm>
            <a:off x="3337560" y="1097280"/>
            <a:ext cx="2651760" cy="457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234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RJ-11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16459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Телефония, 4 или 6 контактов.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2651760" cy="14630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1097280"/>
            <a:ext cx="2651760" cy="457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234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BNC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5080" y="16459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Коаксиальный кабель. Байонетное соединение.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2651760" cy="14630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834640"/>
            <a:ext cx="2651760" cy="457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ST / SC / LC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33832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Оптоволоконные коннекторы.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37560" y="2834640"/>
            <a:ext cx="2651760" cy="14630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3337560" y="2834640"/>
            <a:ext cx="2651760" cy="457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SFP / SFP+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74720" y="33832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Модули для оптики в коммутаторах/маршрутизаторах.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2834640"/>
            <a:ext cx="2651760" cy="14630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2834640"/>
            <a:ext cx="2651760" cy="457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USB / Thunderbolt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55080" y="33832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Периферийные устройства, сетевые адаптеры.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Инструменты для монтажа и тестирования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</a:rPr>
              <a:t>Монтаж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40080" y="17373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Обжимные клещи (кримпер)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Стриппер (для снятия изоляции)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Монтажный нож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Панч-инструмент (для кроссировки)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09728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7784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</a:rPr>
              <a:t>Тестирование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4846320" y="173736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Кабельный тестер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 — проверка целостности жил, распиновки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Сертификатор кабеля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 — анализ параметров (затухание, NEXT, Return Loss)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Оптический рефлектометр (OTDR)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 — диагностика оптоволокна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0" name="Text 6"/>
          <p:cNvSpPr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</a:rPr>
              <a:t>⚠️ Важно: </a:t>
            </a:r>
            <a:r>
              <a:rPr lang="en-US" sz="1400" dirty="0">
                <a:solidFill>
                  <a:srgbClr val="1E293B"/>
                </a:solidFill>
              </a:rPr>
              <a:t>Перед развёртыванием сети проводят </a:t>
            </a:r>
            <a:r>
              <a:rPr lang="en-US" sz="1400" b="1" dirty="0">
                <a:solidFill>
                  <a:srgbClr val="1E293B"/>
                </a:solidFill>
              </a:rPr>
              <a:t>сертификацию кабельной системы</a:t>
            </a:r>
            <a:r>
              <a:rPr lang="en-US" sz="1400" dirty="0">
                <a:solidFill>
                  <a:srgbClr val="1E293B"/>
                </a:solidFill>
              </a:rPr>
              <a:t> для подтверждения соответствия стандартам (TIA/EIA-568, ISO/IEC 11801).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Беспроводные среды передачи данных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Wi-Fi (IEEE 802.11)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17373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Частоты: 2.4 ГГц, 5 ГГц, 6 ГГц (Wi-Fi 6E)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Скорость: до 9.6 Гбит/с (Wi-Fi 6)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Дальность: 30–100 м (в помещении)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2834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</a:rPr>
              <a:t>Bluetooth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32004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Частота: 2.4 ГГц (ISM-диапазон)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Скорость: до 3 Мбит/с (Bluetooth 5.0)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Дальность: до 100 м (Class 1), обычно 10 м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</a:rPr>
              <a:t>Другие технологии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0" y="155448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</a:rPr>
              <a:t>LTE / 5G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 — сотовая связь, скорость до 10 Гбит/с (5G)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</a:rPr>
              <a:t>LoRaWAN / NB-IoT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 — IoT, низкая скорость, большая дальность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</a:rPr>
              <a:t>Спутниковая связь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 — глобальное покрытие, высокая задержка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</a:rPr>
              <a:t>ИК-порт (IrDA)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 — прямая видимость, устаревшая технология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Сравнение проводных и беспроводных сред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Параметр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Проводные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Беспроводные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Скорость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До 100+ Гбит/с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До 10 Гбит/с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Надёжность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Высокая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Средняя (помехи, препятствия)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Стоимость развёртывания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Средняя–высокая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Низкая–средняя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Мобильность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Отсутствует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Высокая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Безопасность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Высокая (физический доступ)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Средняя (шифрование, WPA3)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Монтаж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Трудоёмкий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Простой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Применение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Магистрали, ЦОД, офисы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Домашние сети, мобильные устройства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Итоги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5F7FA"/>
                </a:solidFill>
              </a:rPr>
              <a:t>✓ Изучили основные типы кабелей и их характеристики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5F7FA"/>
                </a:solidFill>
              </a:rPr>
              <a:t>✓ Сравнили проводные среды по ключевым параметрам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5F7FA"/>
                </a:solidFill>
              </a:rPr>
              <a:t>✓ Познакомились с соединителями и инструментами монтажа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5F7FA"/>
                </a:solidFill>
              </a:rPr>
              <a:t>✓ Рассмотрели беспроводные технологии (Wi-Fi, Bluetooth, LTE)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602</Words>
  <Application>Microsoft Office PowerPoint</Application>
  <PresentationFormat>Экран (16:9)</PresentationFormat>
  <Paragraphs>157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Физические среды передачи данных</dc:title>
  <dc:subject>PptxGenJS Presentation</dc:subject>
  <dc:creator>Преподаватель</dc:creator>
  <cp:lastModifiedBy>Teacher</cp:lastModifiedBy>
  <cp:revision>3</cp:revision>
  <dcterms:created xsi:type="dcterms:W3CDTF">2026-02-07T03:35:53Z</dcterms:created>
  <dcterms:modified xsi:type="dcterms:W3CDTF">2026-02-07T08:32:49Z</dcterms:modified>
</cp:coreProperties>
</file>
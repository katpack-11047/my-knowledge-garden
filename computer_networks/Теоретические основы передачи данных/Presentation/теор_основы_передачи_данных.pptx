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7" y="119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1687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9900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544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Теоретические основы передачи данных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Сигналы · Кодирование · Модуляция · Коммутация · Пакеты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Понятие сигнала и данных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657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73152" cy="3657600"/>
          </a:xfrm>
          <a:prstGeom prst="rect">
            <a:avLst/>
          </a:prstGeom>
          <a:solidFill>
            <a:srgbClr val="990011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8016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3258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90011"/>
                </a:solidFill>
              </a:rPr>
              <a:t>Данные (Data)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85800" y="2011680"/>
            <a:ext cx="35661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Определение: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</a:rPr>
              <a:t>Информация, представленная в дискретном (цифровом) виде, пригодном для обработки, хранения и передачи.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Примеры: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</a:rPr>
              <a:t>• Текст, числа, изображения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</a:rPr>
              <a:t>• Биты: 0 и 1 (двоичная система)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663440" y="1097280"/>
            <a:ext cx="4023360" cy="3657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Shape 6"/>
          <p:cNvSpPr/>
          <p:nvPr/>
        </p:nvSpPr>
        <p:spPr>
          <a:xfrm>
            <a:off x="4663440" y="1097280"/>
            <a:ext cx="73152" cy="3657600"/>
          </a:xfrm>
          <a:prstGeom prst="rect">
            <a:avLst/>
          </a:prstGeom>
          <a:solidFill>
            <a:srgbClr val="2F3C7E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28016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77840" y="13258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F3C7E"/>
                </a:solidFill>
              </a:rPr>
              <a:t>Сигнал (Signal)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4892040" y="2011680"/>
            <a:ext cx="35661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Определение: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</a:rPr>
              <a:t>Физический процесс (электрический, оптический, радиоволновый), переносящий данные по каналу связи.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Типы: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</a:rPr>
              <a:t>• Аналоговый — непрерывный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</a:rPr>
              <a:t>• Цифровой — дискретный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Методы кодирования данных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</a:rPr>
              <a:t>Кодирование</a:t>
            </a:r>
            <a:r>
              <a:rPr lang="en-US" sz="1500" dirty="0">
                <a:solidFill>
                  <a:srgbClr val="1A1A2E"/>
                </a:solidFill>
              </a:rPr>
              <a:t> — преобразование данных (битов) в последовательность сигналов для передачи по физической среде.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645920"/>
            <a:ext cx="45720" cy="73152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1907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</a:rPr>
              <a:t>NRZ (Non-Return to Zero)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029968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Простейшее кодирование: 1 = высокий уровень, 0 = низкий. Проблема: нет синхронизации при длинных последовательностях одинаковых битов.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8229600" cy="731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468880"/>
            <a:ext cx="45720" cy="73152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54203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</a:rPr>
              <a:t>Manchester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2852928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Переход в середине такта: ↓ = 0, ↑ = 1. Самосинхронизация, но требует удвоенной полосы. Применяется в Ethernet 10 Мбит/с.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291840"/>
            <a:ext cx="8229600" cy="731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3291840"/>
            <a:ext cx="45720" cy="73152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36499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</a:rPr>
              <a:t>4B/5B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3675888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Каждые 4 бита кодируются 5 битами для гарантии частых переходов. Используется в Fast Ethernet (100 Мбит/с).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4114800"/>
            <a:ext cx="45720" cy="73152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18795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</a:rPr>
              <a:t>8B/10B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4498848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8 бит → 10 бит. Обеспечивает баланс DC и частые переходы. Применяется в Gigabit Ethernet, Fiber Channel.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Модуляция сигналов</a:t>
            </a:r>
            <a:endParaRPr lang="en-US" sz="3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9728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1143000"/>
            <a:ext cx="7223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Модуляция</a:t>
            </a:r>
            <a:r>
              <a:rPr lang="en-US" sz="1400" dirty="0">
                <a:solidFill>
                  <a:srgbClr val="1A1A2E"/>
                </a:solidFill>
              </a:rPr>
              <a:t> — изменение параметров несущей волны (амплитуды, частоты, фазы) в соответствии с передаваемыми данными. Используется для передачи цифровых данных по аналоговым каналам (телефонные линии, радио).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2011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90011"/>
                </a:solidFill>
              </a:rPr>
              <a:t>Основные виды модуляции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40080" y="24688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1A1A2E"/>
                </a:solidFill>
              </a:rPr>
              <a:t>ASK (Amplitude Shift Keying)</a:t>
            </a:r>
            <a:r>
              <a:rPr lang="en-US" sz="1200" dirty="0">
                <a:solidFill>
                  <a:srgbClr val="1A1A2E"/>
                </a:solidFill>
              </a:rPr>
              <a:t> — Амплитудная модуляция — изменяется амплитуда несущей. Чувствительна к помехам.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1A1A2E"/>
                </a:solidFill>
              </a:rPr>
              <a:t>FSK (Frequency Shift Keying)</a:t>
            </a:r>
            <a:r>
              <a:rPr lang="en-US" sz="1200" dirty="0">
                <a:solidFill>
                  <a:srgbClr val="1A1A2E"/>
                </a:solidFill>
              </a:rPr>
              <a:t> — Частотная модуляция — изменяется частота несущей. Более устойчива к шумам. Применяется в модемах.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34747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1A1A2E"/>
                </a:solidFill>
              </a:rPr>
              <a:t>PSK (Phase Shift Keying)</a:t>
            </a:r>
            <a:r>
              <a:rPr lang="en-US" sz="1200" dirty="0">
                <a:solidFill>
                  <a:srgbClr val="1A1A2E"/>
                </a:solidFill>
              </a:rPr>
              <a:t> — Фазовая модуляция — изменяется фаза несущей. Высокая помехоустойчивость. Используется в Wi-Fi, LTE.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3977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1A1A2E"/>
                </a:solidFill>
              </a:rPr>
              <a:t>QAM (Quadrature Amplitude Modulation)</a:t>
            </a:r>
            <a:r>
              <a:rPr lang="en-US" sz="1200" dirty="0">
                <a:solidFill>
                  <a:srgbClr val="1A1A2E"/>
                </a:solidFill>
              </a:rPr>
              <a:t> — Комбинация амплитудной и фазовой модуляции. Высокая скорость передачи. Применяется в кабельных модемах, DSL, LTE.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Методы оцифровки (дискретизации)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</a:rPr>
              <a:t>Оцифровка</a:t>
            </a:r>
            <a:r>
              <a:rPr lang="en-US" sz="1500" dirty="0">
                <a:solidFill>
                  <a:srgbClr val="1A1A2E"/>
                </a:solidFill>
              </a:rPr>
              <a:t> — преобразование аналогового сигнала в цифровой. Применяется для передачи голоса, музыки, видео по цифровым каналам.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90011"/>
                </a:solidFill>
              </a:rPr>
              <a:t>Этапы оцифровки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40233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1. Дискретизация (Sampling)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Измерение значения сигнала через равные промежутки времени (частота дискретизации).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2. Квантование (Quantization)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Округление измеренных значений до ближайшего уровня из заданного набора.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3. Кодирование (Encoding)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Представление квантованных значений в виде двоичных кодов.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663440" y="16459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3C7E"/>
                </a:solidFill>
              </a:rPr>
              <a:t>Примеры стандартов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663440" y="2103120"/>
            <a:ext cx="40233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1A1A2E"/>
                </a:solidFill>
              </a:rPr>
              <a:t>PCM (Pulse Code Modulation)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Базовый метод оцифровки. Применяется в телефонии (8 кГц, 8 бит → 64 кбит/с).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1A1A2E"/>
                </a:solidFill>
              </a:rPr>
              <a:t>Audio CD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44.1 кГц, 16 бит, стерео → 1411 кбит/с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1A1A2E"/>
                </a:solidFill>
              </a:rPr>
              <a:t>MP3, AAC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Сжатие с потерями для экономии полосы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Понятие коммутации</a:t>
            </a:r>
            <a:endParaRPr lang="en-US" sz="3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9728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1143000"/>
            <a:ext cx="7223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</a:rPr>
              <a:t>Коммутация</a:t>
            </a:r>
            <a:r>
              <a:rPr lang="en-US" sz="1500" dirty="0">
                <a:solidFill>
                  <a:srgbClr val="1A1A2E"/>
                </a:solidFill>
              </a:rPr>
              <a:t> — процесс установления соединения между отправителем и получателем через промежуточные узлы сети. Определяет, как данные проходят путь от источника к назначению.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57200" y="2011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90011"/>
                </a:solidFill>
              </a:rPr>
              <a:t>Зачем нужна коммутация?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24688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Масштабируемость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</a:rPr>
              <a:t> — невозможно соединить каждое устройство с каждым напрямую (N² связей)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Эффективность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</a:rPr>
              <a:t> — совместное использование каналов связи несколькими абонентами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Гибкость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</a:rPr>
              <a:t> — возможность динамического выбора маршрута в зависимости от нагрузки или отказов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4023360"/>
            <a:ext cx="8229600" cy="8229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41605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90011"/>
                </a:solidFill>
              </a:rPr>
              <a:t>💡 Аналогия: </a:t>
            </a:r>
            <a:r>
              <a:rPr lang="en-US" sz="1400" dirty="0">
                <a:solidFill>
                  <a:srgbClr val="1A1A2E"/>
                </a:solidFill>
              </a:rPr>
              <a:t>Телефонная станция — коммутатор соединяет звонящего с абонентом. Интернет-маршрутизатор — коммутатор передаёт пакеты по оптимальному маршруту.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Типы коммутации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3657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2651760" cy="54864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280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90011"/>
                </a:solidFill>
              </a:rPr>
              <a:t>Коммутация каналов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" y="1737360"/>
            <a:ext cx="23774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Принцип: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Перед передачей данных устанавливается выделенный канал на всё время сеанса.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Преимущества: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• Постоянная полоса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• Малая задержка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Недостатки: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• Неэффективное использование (паузы)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Пример: </a:t>
            </a:r>
            <a:r>
              <a:rPr lang="en-US" sz="1100" dirty="0">
                <a:solidFill>
                  <a:srgbClr val="1A1A2E"/>
                </a:solidFill>
              </a:rPr>
              <a:t>Телефонная связь (PSTN)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1097280"/>
            <a:ext cx="2651760" cy="3657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Shape 6"/>
          <p:cNvSpPr/>
          <p:nvPr/>
        </p:nvSpPr>
        <p:spPr>
          <a:xfrm>
            <a:off x="3246120" y="1097280"/>
            <a:ext cx="2651760" cy="54864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1280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3C7E"/>
                </a:solidFill>
              </a:rPr>
              <a:t>Коммутация пакетов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383280" y="1737360"/>
            <a:ext cx="23774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Принцип: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Данные разбиваются на пакеты. Каждый пакет передаётся независимо через сеть.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Преимущества: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• Эффективное использование каналов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• Отказоустойчивость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Недостатки: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• Переменная задержка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Пример: </a:t>
            </a:r>
            <a:r>
              <a:rPr lang="en-US" sz="1100" dirty="0">
                <a:solidFill>
                  <a:srgbClr val="1A1A2E"/>
                </a:solidFill>
              </a:rPr>
              <a:t>Интернет (IP)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1097280"/>
            <a:ext cx="2651760" cy="3657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2" name="Shape 10"/>
          <p:cNvSpPr/>
          <p:nvPr/>
        </p:nvSpPr>
        <p:spPr>
          <a:xfrm>
            <a:off x="6035040" y="1097280"/>
            <a:ext cx="2651760" cy="54864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3" name="Text 11"/>
          <p:cNvSpPr/>
          <p:nvPr/>
        </p:nvSpPr>
        <p:spPr>
          <a:xfrm>
            <a:off x="6172200" y="1280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 err="1">
                <a:solidFill>
                  <a:srgbClr val="6B7280"/>
                </a:solidFill>
              </a:rPr>
              <a:t>Коммутация</a:t>
            </a:r>
            <a:r>
              <a:rPr lang="en-US" sz="1600" b="1" dirty="0">
                <a:solidFill>
                  <a:srgbClr val="6B7280"/>
                </a:solidFill>
              </a:rPr>
              <a:t> сообщений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72200" y="1737360"/>
            <a:ext cx="23774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Принцип: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Сообщение целиком передаётся от узла к узлу (store-and-forward).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Преимущества: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• Не требует постоянного канала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Недостатки: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• Большая задержка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• Буферы на узлах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Пример: </a:t>
            </a:r>
            <a:r>
              <a:rPr lang="en-US" sz="1100" dirty="0">
                <a:solidFill>
                  <a:srgbClr val="1A1A2E"/>
                </a:solidFill>
              </a:rPr>
              <a:t>E-mail, телеграф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Понятие пакета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</a:rPr>
              <a:t>Пакет</a:t>
            </a:r>
            <a:r>
              <a:rPr lang="en-US" sz="1500" dirty="0">
                <a:solidFill>
                  <a:srgbClr val="1A1A2E"/>
                </a:solidFill>
              </a:rPr>
              <a:t> — единица данных, передаваемая в сетях с коммутацией пакетов. Пакет содержит заголовок (header), полезные данные (payload) и иногда хвост (trailer).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90011"/>
                </a:solidFill>
              </a:rPr>
              <a:t>Структура пакета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71600" y="2286000"/>
            <a:ext cx="1828800" cy="73152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22860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</a:rPr>
              <a:t>Заголовок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</a:rPr>
              <a:t>(Header)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2286000"/>
            <a:ext cx="2743200" cy="731520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0" y="22860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</a:rPr>
              <a:t>Данные (Payload)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0" y="2286000"/>
            <a:ext cx="1828800" cy="731520"/>
          </a:xfrm>
          <a:prstGeom prst="rect">
            <a:avLst/>
          </a:prstGeom>
          <a:solidFill>
            <a:srgbClr val="FFECB3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0" y="22860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</a:rPr>
              <a:t>Хвост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</a:rPr>
              <a:t>(Trailer)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291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3C7E"/>
                </a:solidFill>
              </a:rPr>
              <a:t>Содержимое заголовка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• Адрес источника (Source)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</a:rPr>
              <a:t>• Адрес назначения (Destination)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</a:rPr>
              <a:t>• Номер последовательности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</a:rPr>
              <a:t>• Тип протокола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</a:rPr>
              <a:t>• Контрольная сумма (Checksum)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63440" y="3291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3C7E"/>
                </a:solidFill>
              </a:rPr>
              <a:t>Зачем разбивать на пакеты?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63440" y="374904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</a:rPr>
              <a:t>• Эффективное мультиплексирование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</a:rPr>
              <a:t>• Обнаружение ошибок (на уровне пакета)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</a:rPr>
              <a:t>• Возможность передачи разными путями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</a:rPr>
              <a:t>• Снижение задержек (не ждём весь файл)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Сравнение типов коммутации</a:t>
            </a:r>
            <a:endParaRPr lang="en-US" sz="3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566157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Параметр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Каналов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Пакетов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Сообщений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Установление соединения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Да (перед передачей)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Нет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Нет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Выделенный канал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Да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Нет (разделяемый)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Нет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Задержка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Низкая и стабильная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Переменная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Высокая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Эффективность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Низкая (паузы)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Высокая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Средняя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Надёжность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Высокая (фиксированный путь)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Высокая (альтернативные маршруты)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Средняя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Пример применения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Телефония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Интернет (IP)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Email, телеграф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9900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Итоги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CF6F5"/>
                </a:solidFill>
              </a:rPr>
              <a:t>✓ Разобрали понятия сигнала, данных и их различия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FCF6F5"/>
                </a:solidFill>
              </a:rPr>
              <a:t>✓ Изучили методы кодирования (NRZ, Manchester, 4B/5B, 8B/10B)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FCF6F5"/>
                </a:solidFill>
              </a:rPr>
              <a:t>✓ Познакомились с модуляцией (ASK, FSK, PSK, QAM) и оцифровкой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FCF6F5"/>
                </a:solidFill>
              </a:rPr>
              <a:t>✓ Рассмотрели типы коммутации: каналов, пакетов, сообщений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FCF6F5"/>
                </a:solidFill>
              </a:rPr>
              <a:t>✓ Изучили структуру и назначение пакетов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FFFFF"/>
                </a:solidFill>
              </a:rPr>
              <a:t>Вопросы?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894</Words>
  <Application>Microsoft Office PowerPoint</Application>
  <PresentationFormat>Экран (16:9)</PresentationFormat>
  <Paragraphs>166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Теоретические основы передачи данных</dc:title>
  <dc:subject>PptxGenJS Presentation</dc:subject>
  <dc:creator>Преподаватель</dc:creator>
  <cp:lastModifiedBy>a11paka</cp:lastModifiedBy>
  <cp:revision>3</cp:revision>
  <dcterms:created xsi:type="dcterms:W3CDTF">2026-02-28T07:08:41Z</dcterms:created>
  <dcterms:modified xsi:type="dcterms:W3CDTF">2026-02-28T11:03:32Z</dcterms:modified>
</cp:coreProperties>
</file>
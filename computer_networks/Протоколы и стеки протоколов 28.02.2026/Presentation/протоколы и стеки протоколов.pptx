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7" y="11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407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Протоколы и стеки протоколов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· TCP/IP · IPX/SPX · NetBIOS/SMB · Протоколы приложений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такое протокол и стек протоколов?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18872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Протокол</a:t>
            </a:r>
            <a:r>
              <a:rPr lang="en-US" sz="1500" dirty="0">
                <a:solidFill>
                  <a:srgbClr val="0F172A"/>
                </a:solidFill>
              </a:rPr>
              <a:t> — набор правил и соглашений для обмена данными между устройствами в сети. Определяет формат сообщений, порядок их передачи, обработку ошибок.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463040" y="19202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Стек протоколов</a:t>
            </a:r>
            <a:r>
              <a:rPr lang="en-US" sz="1500" dirty="0">
                <a:solidFill>
                  <a:srgbClr val="0F172A"/>
                </a:solidFill>
              </a:rPr>
              <a:t> — иерархическая структура протоколов, где каждый уровень выполняет определённые функции и взаимодействует только со смежными уровнями.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2743200"/>
            <a:ext cx="8229600" cy="201168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2743200"/>
            <a:ext cx="73152" cy="2011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880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Зачем нужны стеки?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338328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Модульность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 — можно заменить протокол одного уровня без изменения других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Стандартизация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 — единые правила для взаимодействия разных производителей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Упрощение разработки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 — разработчик работает только с API нужного уровня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Стек OSI — эталонная модель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OSI (Open Systems Interconnection)</a:t>
            </a:r>
            <a:r>
              <a:rPr lang="en-US" sz="1400" dirty="0">
                <a:solidFill>
                  <a:srgbClr val="0F172A"/>
                </a:solidFill>
              </a:rPr>
              <a:t> — 7-уровневая модель, разработанная ISO в 1984 году. Носит эталонный (теоретический) характер.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0" y="1645920"/>
            <a:ext cx="2743200" cy="411480"/>
          </a:xfrm>
          <a:prstGeom prst="rect">
            <a:avLst/>
          </a:prstGeom>
          <a:solidFill>
            <a:srgbClr val="E879F9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1645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7. Прикладной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2103120"/>
            <a:ext cx="2743200" cy="41148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2103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6. Представления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2560320"/>
            <a:ext cx="2743200" cy="41148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25603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5. Сеансовый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3017520"/>
            <a:ext cx="2743200" cy="41148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30175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4. Транспортный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0" y="3474720"/>
            <a:ext cx="2743200" cy="4114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3474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3. Сетевой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0" y="3931920"/>
            <a:ext cx="2743200" cy="4114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3931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2. Канальный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0" y="4389120"/>
            <a:ext cx="2743200" cy="41148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4389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1. Физический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8231" y="494713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64748B"/>
                </a:solidFill>
              </a:rPr>
              <a:t>💡 </a:t>
            </a:r>
            <a:r>
              <a:rPr lang="en-US" sz="1300" i="1" dirty="0">
                <a:solidFill>
                  <a:srgbClr val="64748B"/>
                </a:solidFill>
              </a:rPr>
              <a:t>OSI служит основой для понимания сетевых архитектур, но на практике чаще используется модель TCP/IP.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Другие стеки протоколов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73736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1737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IPX/SPX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Стек компании Novell для сетей NetWare (1980-е – 2000-е).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IPX (Internetwork Packet Exchange)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 — сетевой протокол (аналог IP)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SPX (Sequenced Packet Exchange)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 — транспортный протокол (аналог TCP)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173736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8" name="Shape 6"/>
          <p:cNvSpPr/>
          <p:nvPr/>
        </p:nvSpPr>
        <p:spPr>
          <a:xfrm>
            <a:off x="4663440" y="1097280"/>
            <a:ext cx="73152" cy="17373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</a:rPr>
              <a:t>NetBIOS / SMB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46320" y="16459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Протоколы Microsoft для локальных сетей Windows.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NetBIOS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 — API для сетевого взаимодействия (имена, сессии)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SMB/CIFS (Server Message Block)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 — протокол общего доступа к файлам и принтерам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73736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154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</a:rPr>
              <a:t>Современное состояние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6118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IPX/SPX</a:t>
            </a:r>
            <a:r>
              <a:rPr lang="en-US" sz="1300" dirty="0">
                <a:solidFill>
                  <a:srgbClr val="0F172A"/>
                </a:solidFill>
              </a:rPr>
              <a:t> — практически не используется (вытеснен TCP/IP)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NetBIOS/SMB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 — до сих пор применяется в Windows-сетях, но работает поверх TCP/IP (NetBIOS over TCP/IP). Современная версия — SMB 3.x с шифрованием.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Стек протоколов TCP/IP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TCP/IP</a:t>
            </a:r>
            <a:r>
              <a:rPr lang="en-US" sz="1400" dirty="0">
                <a:solidFill>
                  <a:srgbClr val="0F172A"/>
                </a:solidFill>
              </a:rPr>
              <a:t> — практический стек протоколов Интернета. Разработан в 1970-х в рамках проекта ARPANET. Содержит 4 уровня.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286000" cy="640080"/>
          </a:xfrm>
          <a:prstGeom prst="rect">
            <a:avLst/>
          </a:prstGeom>
          <a:solidFill>
            <a:srgbClr val="E879F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Прикладной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834640" y="1645920"/>
            <a:ext cx="4114800" cy="64008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0" y="16459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HTTP, FTP, SMTP, DNS, SSH, Telnet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040880" y="1645920"/>
            <a:ext cx="1645920" cy="64008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0" y="1645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OSI: 5, 6, 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2286000" cy="64008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774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Транспортный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834640" y="2377440"/>
            <a:ext cx="4114800" cy="64008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3" name="Text 11"/>
          <p:cNvSpPr/>
          <p:nvPr/>
        </p:nvSpPr>
        <p:spPr>
          <a:xfrm>
            <a:off x="2926080" y="23774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TCP, UDP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0" y="2377440"/>
            <a:ext cx="1645920" cy="64008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2377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OSI: 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2286000" cy="6400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108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Сетевой (Internet)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834640" y="3108960"/>
            <a:ext cx="4114800" cy="64008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0" y="31089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IP, ICMP, ARP, IGMP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40880" y="3108960"/>
            <a:ext cx="1645920" cy="64008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31089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OSI: 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2286000" cy="64008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840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Канальный (Link)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834640" y="3840480"/>
            <a:ext cx="4114800" cy="64008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5" name="Text 23"/>
          <p:cNvSpPr/>
          <p:nvPr/>
        </p:nvSpPr>
        <p:spPr>
          <a:xfrm>
            <a:off x="2926080" y="38404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Ethernet, Wi-Fi, PPP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040880" y="3840480"/>
            <a:ext cx="1645920" cy="64008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7" name="Text 25"/>
          <p:cNvSpPr/>
          <p:nvPr/>
        </p:nvSpPr>
        <p:spPr>
          <a:xfrm>
            <a:off x="7040880" y="38404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OSI: 1, 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Назначение протоколов TCP/IP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4572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IP (Internet Protocol)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Маршрутизация пакетов, адресация (IPv4/IPv6)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01368"/>
            <a:ext cx="8229600" cy="64008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801368"/>
            <a:ext cx="4572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74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ICMP (Internet Control Message Protocol)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18541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Диагностика сети (ping, traceroute)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05456"/>
            <a:ext cx="8229600" cy="64008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505456"/>
            <a:ext cx="4572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78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ARP (Address Resolution Protocol)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889504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Разрешение IP → MAC адрес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09544"/>
            <a:ext cx="8229600" cy="64008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209544"/>
            <a:ext cx="45720" cy="640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8269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TCP (Transmission Control Protocol)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593592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Надёжная доставка данных с подтверждением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13632"/>
            <a:ext cx="8229600" cy="64008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913632"/>
            <a:ext cx="45720" cy="640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98678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UDP (User Datagram Protocol)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4297680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Быстрая доставка без гарантий (DNS, видео)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Протоколы прикладного уровня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Протоколы прикладного уровня</a:t>
            </a:r>
            <a:r>
              <a:rPr lang="en-US" sz="1400" dirty="0">
                <a:solidFill>
                  <a:srgbClr val="0F172A"/>
                </a:solidFill>
              </a:rPr>
              <a:t> обеспечивают взаимодействие пользовательских приложений с сетью. Работают поверх TCP или UDP.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8229600" cy="384048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8249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HTTP / HTTPS (80 / 443)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1682496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Передача веб-страниц (Hypertext Transfer Protocol)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75688"/>
            <a:ext cx="8229600" cy="384048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1226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FTP (21)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211226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Передача файлов (File Transfer Protocol)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05456"/>
            <a:ext cx="8229600" cy="384048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4203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SMTP (25)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2542032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Отправка электронной почты (Simple Mail Transfer Protocol)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35224"/>
            <a:ext cx="8229600" cy="384048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7180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POP3 (110)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2971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Получение почты с удалением с сервера (Post Office Protocol)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64992"/>
            <a:ext cx="8229600" cy="384048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0156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IMAP (143)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340156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Получение почты с хранением на сервере (Internet Message Access Protocol)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8229600" cy="384048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83133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Telnet (23)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17520" y="3831336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Удалённое управление (незащищённое, устаревший)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224528"/>
            <a:ext cx="8229600" cy="384048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26110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SSH (22)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17520" y="4261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Защищённое удалённое управление (Secure Shell)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654296"/>
            <a:ext cx="8229600" cy="384048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69087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DNS (53)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017520" y="4690872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Преобразование доменных имён в IP-адреса (Domain Name System)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 / HTTPS — протокол веба</a:t>
            </a:r>
            <a:endParaRPr lang="en-US" sz="3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18872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HTTP (Hypertext Transfer Protocol)</a:t>
            </a:r>
            <a:r>
              <a:rPr lang="en-US" sz="1400" dirty="0">
                <a:solidFill>
                  <a:srgbClr val="0F172A"/>
                </a:solidFill>
              </a:rPr>
              <a:t> — основа World Wide Web. Используется для запроса и передачи веб-страниц, изображений, API.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Основные методы HTTP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237744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F172A"/>
                </a:solidFill>
              </a:rPr>
              <a:t>GET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 — запрос данных с сервера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POST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 — отправка данных на сервер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PUT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 — обновление ресурса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DELETE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 — удаление ресурса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663440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</a:rPr>
              <a:t>HTTPS = HTTP + SSL/TLS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663440" y="237744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HTTPS</a:t>
            </a:r>
            <a:r>
              <a:rPr lang="en-US" sz="1200" dirty="0">
                <a:solidFill>
                  <a:srgbClr val="0F172A"/>
                </a:solidFill>
              </a:rPr>
              <a:t> — защищённая версия HTTP с шифрованием трафика. Обязателен для: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• Аутентификация (логины/пароли)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• Платёжные данные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• Конфиденциальная информация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Порт: 443 (HTTP — 80)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💡 Важно: </a:t>
            </a:r>
            <a:r>
              <a:rPr lang="en-US" sz="1300" dirty="0">
                <a:solidFill>
                  <a:srgbClr val="0F172A"/>
                </a:solidFill>
              </a:rPr>
              <a:t>Все современные браузеры предупреждают пользователей о незащищённых (HTTP) сайтах. Google и другие поисковики понижают рейтинг сайтов без HTTPS.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FTP, Telnet, SSH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11887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23444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FTP (File Transfer Protocol)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1783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Протокол передачи файлов между клиентом и сервером. Поддерживает аутентификацию, управление каталогами, докачку файлов.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Недостаток: </a:t>
            </a:r>
            <a:r>
              <a:rPr lang="en-US" sz="1200" dirty="0">
                <a:solidFill>
                  <a:srgbClr val="0F172A"/>
                </a:solidFill>
              </a:rPr>
              <a:t>передача паролей в открытом виде. Современная альтернатива — SFTP (SSH File Transfer Protocol) или FTPS (FTP over SSL).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2468880"/>
            <a:ext cx="73152" cy="10972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606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</a:rPr>
              <a:t>Telnet (порт 23)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3063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Протокол удалённого доступа к терминалу. Позволяет управлять удалённым сервером через командную строку.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⚠️ Проблема: </a:t>
            </a:r>
            <a:r>
              <a:rPr lang="en-US" sz="1200" dirty="0">
                <a:solidFill>
                  <a:srgbClr val="0F172A"/>
                </a:solidFill>
              </a:rPr>
              <a:t>весь трафик передаётся в открытом виде (включая пароли). Считается устаревшим и небезопасным.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" y="3749040"/>
            <a:ext cx="73152" cy="109728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88620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34440" y="388620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</a:rPr>
              <a:t>SSH (Secure Shell, порт 22)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Защищённый протокол удалённого доступа. Весь трафик шифруется. Поддерживает туннелирование (проброс портов), передачу файлов (SFTP).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✓ SSH полностью заменил Telnet в современных системах.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Протоколы электронной почты</a:t>
            </a:r>
            <a:endParaRPr lang="en-US" sz="3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18872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Электронная почта использует несколько протоколов: для отправки (SMTP) и для получения (POP3 / IMAP).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920240"/>
            <a:ext cx="8229600" cy="86868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920240"/>
            <a:ext cx="73152" cy="868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0574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SMTP (Simple Mail Transfer Protocol, порт 25/587)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423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Протокол отправки писем с клиента на почтовый сервер и между серверами. Работает по схеме: </a:t>
            </a:r>
            <a:r>
              <a:rPr lang="en-US" sz="1200" b="1" dirty="0">
                <a:solidFill>
                  <a:srgbClr val="0F172A"/>
                </a:solidFill>
              </a:rPr>
              <a:t>клиент → сервер отправителя → сервер получателя.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926080"/>
            <a:ext cx="8229600" cy="86868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2926080"/>
            <a:ext cx="73152" cy="8686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63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</a:rPr>
              <a:t>POP3 (Post Office Protocol, порт 110)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0080" y="3429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Протокол получения почты. Скачивает письма на клиент и </a:t>
            </a:r>
            <a:r>
              <a:rPr lang="en-US" sz="1200" b="1" dirty="0">
                <a:solidFill>
                  <a:srgbClr val="0F172A"/>
                </a:solidFill>
              </a:rPr>
              <a:t>удаляет их с сервера</a:t>
            </a:r>
            <a:r>
              <a:rPr lang="en-US" sz="1200" dirty="0">
                <a:solidFill>
                  <a:srgbClr val="0F172A"/>
                </a:solidFill>
              </a:rPr>
              <a:t>. Не синхронизирует между устройствами. Подходит для одного устройства.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3931920"/>
            <a:ext cx="8229600" cy="86868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200" y="3931920"/>
            <a:ext cx="73152" cy="8686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4069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</a:rPr>
              <a:t>IMAP (Internet Message Access Protocol, порт 143)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Протокол получения почты с </a:t>
            </a:r>
            <a:r>
              <a:rPr lang="en-US" sz="1200" b="1" dirty="0">
                <a:solidFill>
                  <a:srgbClr val="0F172A"/>
                </a:solidFill>
              </a:rPr>
              <a:t>хранением на сервере</a:t>
            </a:r>
            <a:r>
              <a:rPr lang="en-US" sz="1200" dirty="0">
                <a:solidFill>
                  <a:srgbClr val="0F172A"/>
                </a:solidFill>
              </a:rPr>
              <a:t>. Письма синхронизируются между всеми устройствами. Поддерживает папки, флаги, поиск. Современный стандарт.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Распределение протоколов по модели OSI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103120" cy="502920"/>
          </a:xfrm>
          <a:prstGeom prst="rect">
            <a:avLst/>
          </a:prstGeom>
          <a:solidFill>
            <a:srgbClr val="E879F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 — Прикладной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651760" y="1097280"/>
            <a:ext cx="6035040" cy="50292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0" y="109728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HTTP, FTP, SMTP, POP3, IMAP, DNS, SSH, Telnet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2103120" cy="5029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45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 — Представления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1645920"/>
            <a:ext cx="6035040" cy="50292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64592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SSL/TLS, JPEG, MPEG, ASCII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2103120" cy="50292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945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 — Сеансовый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51760" y="2194560"/>
            <a:ext cx="6035040" cy="50292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219456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NetBIOS, RPC, PPTP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2103120" cy="5029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43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 — Транспортный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51760" y="2743200"/>
            <a:ext cx="6035040" cy="50292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274320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TCP, UDP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2103120" cy="5029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918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 — Сетевой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651760" y="3291840"/>
            <a:ext cx="6035040" cy="50292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0" y="32918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IP, ICMP, ARP, OSPF, BGP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2103120" cy="5029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8404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 — Канальный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651760" y="3840480"/>
            <a:ext cx="6035040" cy="50292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0" y="384048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Ethernet, Wi-Fi (802.11), PPP, L2TP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389120"/>
            <a:ext cx="2103120" cy="5029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3891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 — Физический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651760" y="4389120"/>
            <a:ext cx="6035040" cy="50292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0" y="438912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RJ-45, Fiber, Coax, Radio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1049</Words>
  <Application>Microsoft Office PowerPoint</Application>
  <PresentationFormat>Экран (16:9)</PresentationFormat>
  <Paragraphs>147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Trebuchet MS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Протоколы и стеки протоколов</dc:title>
  <dc:subject>PptxGenJS Presentation</dc:subject>
  <dc:creator>Преподаватель</dc:creator>
  <cp:lastModifiedBy>a11paka</cp:lastModifiedBy>
  <cp:revision>4</cp:revision>
  <dcterms:created xsi:type="dcterms:W3CDTF">2026-02-28T07:11:00Z</dcterms:created>
  <dcterms:modified xsi:type="dcterms:W3CDTF">2026-02-28T11:39:27Z</dcterms:modified>
</cp:coreProperties>
</file>